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81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50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394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(none)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(none)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(none)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(none)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(none)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(none)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(none)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(none)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(none)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(none)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Multi-Horizon Financial Forecasting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Uncertainty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2461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— Time-Series: GRU/LSTM vs Transformer + Ensembles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617220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r>
              <a:rPr lang="en-US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ru-RU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Yernur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Bidollin</a:t>
            </a:r>
            <a:r>
              <a:rPr lang="ru-RU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4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Zinetov</a:t>
            </a:r>
            <a:r>
              <a:rPr lang="en-US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Alikhan</a:t>
            </a:r>
            <a:r>
              <a:rPr lang="en-US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IT-2301   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Course: </a:t>
            </a:r>
            <a:r>
              <a:rPr lang="en-US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r>
              <a:rPr lang="en-US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Date: </a:t>
            </a:r>
            <a:r>
              <a:rPr lang="en-US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09.02.2026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Contributions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2976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predict and why it matters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539496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34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3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future market movement from historical OHLCV features</a:t>
            </a:r>
            <a:endParaRPr lang="en-US" sz="1800" dirty="0"/>
          </a:p>
          <a:p>
            <a:pPr marL="228600" indent="-228600">
              <a:spcAft>
                <a:spcPts val="63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Multi-horizon targets: h = {1, 5, 20} trading days</a:t>
            </a:r>
            <a:endParaRPr lang="en-US" sz="1800" dirty="0"/>
          </a:p>
          <a:p>
            <a:pPr marL="228600" indent="-228600">
              <a:spcAft>
                <a:spcPts val="63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log-returns (more stable than raw prices)</a:t>
            </a:r>
            <a:endParaRPr lang="en-US" sz="1800" dirty="0"/>
          </a:p>
          <a:p>
            <a:pPr marL="228600" indent="-228600">
              <a:spcAft>
                <a:spcPts val="63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uncertainty for risk-aware decisions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0" y="1005840"/>
            <a:ext cx="507492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2344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 (Track 2)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160020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3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baseline: GRU with temporal attention</a:t>
            </a:r>
            <a:endParaRPr lang="en-US" sz="1800" dirty="0"/>
          </a:p>
          <a:p>
            <a:pPr marL="228600" indent="-228600">
              <a:spcAft>
                <a:spcPts val="63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comparison</a:t>
            </a:r>
            <a:endParaRPr lang="en-US" sz="1800" dirty="0"/>
          </a:p>
          <a:p>
            <a:pPr marL="228600" indent="-228600">
              <a:spcAft>
                <a:spcPts val="63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Regularization: dropout + weight decay</a:t>
            </a:r>
            <a:endParaRPr lang="en-US" sz="1800" dirty="0"/>
          </a:p>
          <a:p>
            <a:pPr marL="228600" indent="-228600">
              <a:spcAft>
                <a:spcPts val="63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Uncertainty: deep ensembles (K=1 vs K=5)</a:t>
            </a:r>
            <a:endParaRPr lang="en-US" sz="1800" dirty="0"/>
          </a:p>
          <a:p>
            <a:pPr marL="228600" indent="-228600">
              <a:spcAft>
                <a:spcPts val="63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 + naive baselines + visualizations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replace &lt;...&gt; placeholders; keep slides ≤ 10 minutes.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2976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timeframe, and leakage-safe split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115568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34440"/>
            <a:ext cx="10835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572768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Asset: SPY (S&amp;P 500 ETF), daily OHLCV</a:t>
            </a:r>
            <a:endParaRPr lang="en-US" sz="1600" dirty="0"/>
          </a:p>
          <a:p>
            <a:pPr marL="203200" indent="-20320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range: 2010-01-01 → 2026-02-08 (approx. 4k+ trading days)</a:t>
            </a:r>
            <a:endParaRPr lang="en-US" sz="1600" dirty="0"/>
          </a:p>
          <a:p>
            <a:pPr marL="203200" indent="-20320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Yahoo Finance via yfinance (cached to data/raw)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5577840" cy="2971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291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split (no leakage)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1" y="3703320"/>
            <a:ext cx="479145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703320"/>
            <a:ext cx="4791457" cy="45720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3703320"/>
            <a:ext cx="0" cy="1828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3703320"/>
            <a:ext cx="0" cy="1828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4160519"/>
            <a:ext cx="4754880" cy="45719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617720"/>
            <a:ext cx="4791457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5074920"/>
            <a:ext cx="4754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3776472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78608" y="3776472"/>
            <a:ext cx="3072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70448" y="3776472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4233672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78608" y="4233672"/>
            <a:ext cx="3072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2022-12-31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70448" y="4233672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4690872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78608" y="4690872"/>
            <a:ext cx="3072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2023-01-01 … 2023-12-31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70448" y="4690872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15568" y="5148072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78608" y="5148072"/>
            <a:ext cx="3072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2024-01-01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70448" y="5148072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5486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preserves chronology and avoids future information leakage.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83680" y="3063240"/>
            <a:ext cx="5303520" cy="2971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32918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03720" y="3703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time t and horizon h: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03720" y="4023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y(t,h) = log( Close(t+h) / Close(t) )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03720" y="4617720"/>
            <a:ext cx="5074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{1, 5, 20} days</a:t>
            </a:r>
            <a:endParaRPr lang="en-US" sz="1600" dirty="0"/>
          </a:p>
          <a:p>
            <a:pPr marL="203200" indent="-20320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3-dim vector per sample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fin-ts-forecast-uncertainty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2976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windowing, and scaling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57150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3444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(examples)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52120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log_ret_1 (daily log-return)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hl_spread, oc_change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RSI(14)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mean/std of returns (5/10/20/60)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z-score (5/10/20/60)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MA/EMA on Close (5/10/20/60)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29400" y="1005840"/>
            <a:ext cx="534924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234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 + scaling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9440" y="16002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 window length: L = 60 days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tensor per sample: [L × D]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 on training windows only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949440" y="3611880"/>
            <a:ext cx="4693615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78040" y="406908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OHLCV → Features → Scale → Window → Model → (µ, σ)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040" y="48006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time-based split prevents leakage.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fin-ts-forecast-uncertainty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GRU + Temporal Attention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2976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baseline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59436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34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encoder over L=60 timesteps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on hidden states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pooling over time (weights α₁…α_L)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head → 3 horizons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51560" y="3886200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40050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43434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[ŷ₁, ŷ₅, ŷ₂₀] (multi-horizon log-returns)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0" y="1005840"/>
            <a:ext cx="5010912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1234440"/>
            <a:ext cx="4690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16002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average attention weights to see which lags matter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178040" y="2834640"/>
            <a:ext cx="4308566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4160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attention_avg.png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54596" y="2537460"/>
            <a:ext cx="4617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explain mild preference for recent days.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fin-ts-forecast-uncertainty</a:t>
            </a:r>
            <a:endParaRPr lang="en-US" sz="1100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507" y="2833550"/>
            <a:ext cx="4143103" cy="31073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Transformer Encoder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2976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baseline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59436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34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 to d_model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encoder layers (self-attention + FFN)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(mean) + linear head → 3 horizons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51560" y="4466844"/>
            <a:ext cx="539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617719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for discussion: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486232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run, Transformer degraded at h=20; explain as tuning/pooling issue.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0" y="1005840"/>
            <a:ext cx="5010912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1234440"/>
            <a:ext cx="4690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compare?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1600200"/>
            <a:ext cx="4754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requirement: compare sequence model vs Transformer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can capture long-range patterns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needs careful tuning for noisy returns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useful as a strong modern baseline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fin-ts-forecast-uncertainty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Estimation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2976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ensembles (K models)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59436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34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K independent GRU models (different seeds)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mean: μ = average of ŷᵏ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Uncertainty: σ = std across models</a:t>
            </a:r>
            <a:endParaRPr lang="en-US" sz="1700" dirty="0"/>
          </a:p>
          <a:p>
            <a:pPr marL="215900" indent="-215900">
              <a:spcAft>
                <a:spcPts val="595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interval: μ ± 1.645·σ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51560" y="4526280"/>
            <a:ext cx="5394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4663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K=1 vs K=5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501091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 gives σ≈0 → zero-width intervals; K=5 provides meaningful intervals.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0" y="1005840"/>
            <a:ext cx="493776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1234440"/>
            <a:ext cx="4690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(coverage)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78040" y="1783080"/>
            <a:ext cx="4389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8040" y="1783080"/>
            <a:ext cx="438912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41080" y="1783080"/>
            <a:ext cx="0" cy="20116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04120" y="1783080"/>
            <a:ext cx="0" cy="20116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2286000"/>
            <a:ext cx="4389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2788920"/>
            <a:ext cx="4389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040" y="3291840"/>
            <a:ext cx="4389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7768" y="1856232"/>
            <a:ext cx="12435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50808" y="1856232"/>
            <a:ext cx="12435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Cov@90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13848" y="1856232"/>
            <a:ext cx="12435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87768" y="2359152"/>
            <a:ext cx="12435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50808" y="2359152"/>
            <a:ext cx="12435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13848" y="2359152"/>
            <a:ext cx="12435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/ slightly conservative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87768" y="2862072"/>
            <a:ext cx="12435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50808" y="2862072"/>
            <a:ext cx="12435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13848" y="2862072"/>
            <a:ext cx="12435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Under-coverage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87768" y="3364992"/>
            <a:ext cx="12435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50808" y="3364992"/>
            <a:ext cx="12435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13848" y="3364992"/>
            <a:ext cx="12435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under-coverage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78040" y="45262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long-horizon returns are noisier → intervals need calibration.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fin-ts-forecast-uncertainty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2976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performance (SPY, horizons 1/5/20)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147572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34440"/>
            <a:ext cx="10835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(mean across horizons)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1691640"/>
            <a:ext cx="10881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691640"/>
            <a:ext cx="10881360" cy="54864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691640"/>
            <a:ext cx="0" cy="2743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0" y="1691640"/>
            <a:ext cx="0" cy="2743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1691640"/>
            <a:ext cx="0" cy="2743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7040" y="1691640"/>
            <a:ext cx="0" cy="2743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2402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7889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3337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8862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1764792"/>
            <a:ext cx="3621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56048" y="176479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MAE_mean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76288" y="176479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RMSE_mean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96528" y="176479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DirAcc_mean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16768" y="1764792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Cov@90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2313432"/>
            <a:ext cx="3621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+ Attention (single)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56048" y="231343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0.0231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76288" y="231343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0.0302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96528" y="231343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0.6029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716768" y="2313432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15568" y="2862072"/>
            <a:ext cx="3621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56048" y="286207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0.0466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76288" y="286207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0.0570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796528" y="286207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0.4425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716768" y="2862072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15568" y="3410712"/>
            <a:ext cx="3621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Ensemble (GRU, K=5)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56048" y="341071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76288" y="341071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96528" y="341071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0.4970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716768" y="3410712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0.7324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15568" y="3959352"/>
            <a:ext cx="3621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mean-return baseline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56048" y="395935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0.0173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76288" y="395935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0.0230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796528" y="395935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0.6410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716768" y="3959352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05840" y="4754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can be very competitive for returns (low signal-to-noise).</a:t>
            </a:r>
            <a:endParaRPr lang="en-US" sz="1400" dirty="0"/>
          </a:p>
          <a:p>
            <a:pPr marL="177800" indent="-177800">
              <a:spcAft>
                <a:spcPts val="490"/>
              </a:spcAft>
              <a:buSzPct val="100000"/>
              <a:buChar char="•"/>
            </a:pPr>
            <a:r>
              <a:rPr lang="en-US" sz="14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improves MAE/RMSE and enables uncertainty intervals.</a:t>
            </a:r>
          </a:p>
          <a:p>
            <a:pPr marL="177800" indent="-177800">
              <a:spcAft>
                <a:spcPts val="490"/>
              </a:spcAft>
              <a:buSzPct val="100000"/>
              <a:buChar char="•"/>
            </a:pPr>
            <a:r>
              <a:rPr lang="en-US" sz="14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needs more tuning for long-horizon (h=20) returns.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fin-ts-forecast-uncertainty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 &amp; Baselines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2976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most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57150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3444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 (GRU family)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2104" y="1691640"/>
            <a:ext cx="56692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175" y="1712323"/>
            <a:ext cx="566928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0" y="1691640"/>
            <a:ext cx="0" cy="25146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691640"/>
            <a:ext cx="0" cy="25146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1691640"/>
            <a:ext cx="0" cy="25146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2194560"/>
            <a:ext cx="5669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697480"/>
            <a:ext cx="5669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3200400"/>
            <a:ext cx="5669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3703320"/>
            <a:ext cx="5669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1764792"/>
            <a:ext cx="270662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41648" y="1764792"/>
            <a:ext cx="694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56048" y="1764792"/>
            <a:ext cx="694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70448" y="1764792"/>
            <a:ext cx="694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2267712"/>
            <a:ext cx="270662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(p=0.2, wd=1e-4)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41648" y="2267712"/>
            <a:ext cx="694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0.0231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56048" y="2267712"/>
            <a:ext cx="694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0.0302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70448" y="2267712"/>
            <a:ext cx="694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0.6029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5568" y="2770632"/>
            <a:ext cx="270662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Dropout=0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41648" y="2770632"/>
            <a:ext cx="694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0.0216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56048" y="2770632"/>
            <a:ext cx="694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0.0285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70448" y="2770632"/>
            <a:ext cx="694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0.5641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15568" y="3273552"/>
            <a:ext cx="270662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WeightDecay=0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41648" y="3273552"/>
            <a:ext cx="694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0.0231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56048" y="3273552"/>
            <a:ext cx="694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0.0302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70448" y="3273552"/>
            <a:ext cx="694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0.6029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15568" y="3776472"/>
            <a:ext cx="270662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K=5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41648" y="3776472"/>
            <a:ext cx="694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56048" y="3776472"/>
            <a:ext cx="694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70448" y="3776472"/>
            <a:ext cx="694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0.4970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" y="4450081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dropout trades MAE/RMSE vs sign accuracy; WD effect small here.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29400" y="1005840"/>
            <a:ext cx="5397137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1234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675119" y="1700784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56615" y="1719072"/>
            <a:ext cx="5303520" cy="548640"/>
          </a:xfrm>
          <a:prstGeom prst="rect">
            <a:avLst/>
          </a:prstGeom>
          <a:solidFill>
            <a:srgbClr val="FFE4E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64040" y="1691640"/>
            <a:ext cx="0" cy="2194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378440" y="1691640"/>
            <a:ext cx="0" cy="2194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292840" y="1691640"/>
            <a:ext cx="0" cy="2194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03720" y="2240280"/>
            <a:ext cx="5303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03720" y="2788920"/>
            <a:ext cx="5303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03720" y="3337560"/>
            <a:ext cx="5303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13448" y="1764792"/>
            <a:ext cx="23408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573768" y="1764792"/>
            <a:ext cx="694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488168" y="1764792"/>
            <a:ext cx="694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1402568" y="1764792"/>
            <a:ext cx="694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DirAcc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013448" y="2313432"/>
            <a:ext cx="23408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return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573768" y="2313432"/>
            <a:ext cx="694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0.0175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488168" y="2313432"/>
            <a:ext cx="694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0.0230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402568" y="2313432"/>
            <a:ext cx="694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013448" y="2862072"/>
            <a:ext cx="23408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return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573768" y="2862072"/>
            <a:ext cx="694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0.0191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488168" y="2862072"/>
            <a:ext cx="694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0.0263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1402568" y="2862072"/>
            <a:ext cx="694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0.5155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013448" y="3410712"/>
            <a:ext cx="23408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return (lookback)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573768" y="3410712"/>
            <a:ext cx="694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0.0173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0488168" y="3410712"/>
            <a:ext cx="694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0.0230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1402568" y="3410712"/>
            <a:ext cx="694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0.6410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901107" y="4326854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report strong baselines in finance</a:t>
            </a:r>
            <a:endParaRPr lang="en-US" sz="1400" dirty="0"/>
          </a:p>
          <a:p>
            <a:pPr marL="177800" indent="-17780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 hard → simple mean can be competitive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fin-ts-forecast-uncertainty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2976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+ next steps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0694126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34440"/>
            <a:ext cx="10835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10972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3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baseline satisfies Track 2 and performs strongly on directional accuracy</a:t>
            </a:r>
            <a:endParaRPr lang="en-US" sz="1800" dirty="0"/>
          </a:p>
          <a:p>
            <a:pPr marL="228600" indent="-228600">
              <a:spcAft>
                <a:spcPts val="63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baseline underperformed at long horizon (needs tuning)</a:t>
            </a:r>
            <a:endParaRPr lang="en-US" sz="1800" dirty="0"/>
          </a:p>
          <a:p>
            <a:pPr marL="228600" indent="-228600">
              <a:spcAft>
                <a:spcPts val="63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ensembles improve MAE/RMSE and provide uncertainty intervals</a:t>
            </a:r>
            <a:endParaRPr lang="en-US" sz="1800" dirty="0"/>
          </a:p>
          <a:p>
            <a:pPr marL="228600" indent="-228600">
              <a:spcAft>
                <a:spcPts val="63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Long-horizon uncertainty is under-calibrated → calibration is a key future work item</a:t>
            </a:r>
            <a:endParaRPr lang="en-US" sz="1800" dirty="0"/>
          </a:p>
          <a:p>
            <a:pPr marL="228600" indent="-228600">
              <a:spcAft>
                <a:spcPts val="63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baselines are competitive; always report them in financial forecasting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979</Words>
  <Application>Microsoft Office PowerPoint</Application>
  <PresentationFormat>Широкоэкранный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3</cp:revision>
  <dcterms:created xsi:type="dcterms:W3CDTF">2026-02-09T15:22:51Z</dcterms:created>
  <dcterms:modified xsi:type="dcterms:W3CDTF">2026-02-09T15:31:51Z</dcterms:modified>
</cp:coreProperties>
</file>